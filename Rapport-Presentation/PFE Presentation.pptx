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8" r:id="rId3"/>
    <p:sldId id="257" r:id="rId4"/>
    <p:sldId id="274" r:id="rId5"/>
    <p:sldId id="260" r:id="rId6"/>
    <p:sldId id="275" r:id="rId7"/>
    <p:sldId id="259" r:id="rId8"/>
    <p:sldId id="276" r:id="rId9"/>
    <p:sldId id="277" r:id="rId10"/>
    <p:sldId id="273" r:id="rId11"/>
  </p:sldIdLst>
  <p:sldSz cx="18288000" cy="10287000"/>
  <p:notesSz cx="6858000" cy="9144000"/>
  <p:embeddedFontLst>
    <p:embeddedFont>
      <p:font typeface="Playfair Display" panose="00000500000000000000" pitchFamily="2" charset="0"/>
      <p:regular r:id="rId14"/>
    </p:embeddedFont>
    <p:embeddedFont>
      <p:font typeface="Public Sans" panose="020B0604020202020204" charset="0"/>
      <p:regular r:id="rId15"/>
    </p:embeddedFont>
    <p:embeddedFont>
      <p:font typeface="Public Sans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658" y="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948D034-A691-8D8A-6328-5493D74856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EEC338-D7E8-2261-AFCF-A65958DAA92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6D4CA-2FE8-4A0B-BDD7-5D9EBA72A6A1}" type="datetimeFigureOut">
              <a:rPr lang="en-US" smtClean="0"/>
              <a:t>3/30/2024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B4EF10-0039-3BCD-DB09-DF9863859E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29C1A2-C19B-6A84-E799-0D02D77C7B0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DE1102-BF0F-4371-BB7A-2B75EA2DF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799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BA7285-3CB5-4847-A7CC-E502C46578E6}" type="datetimeFigureOut">
              <a:rPr lang="en-US" smtClean="0"/>
              <a:t>3/30/2024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5A8C6-91A8-440C-BDB0-CC60F0A015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10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3160-93FF-4D48-AF47-49B21CD2A91F}" type="datetime1">
              <a:rPr lang="en-US" smtClean="0"/>
              <a:t>3/30/2024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6CA6D-956F-4323-A563-4E33502A6153}" type="datetime1">
              <a:rPr lang="en-US" smtClean="0"/>
              <a:t>3/30/2024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6C37-C98A-4714-9044-10FAA24FBE3E}" type="datetime1">
              <a:rPr lang="en-US" smtClean="0"/>
              <a:t>3/30/2024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40DE-BC91-415A-82DA-4ACB29742187}" type="datetime1">
              <a:rPr lang="en-US" smtClean="0"/>
              <a:t>3/30/2024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30954-33A7-409D-AE47-57600DD11109}" type="datetime1">
              <a:rPr lang="en-US" smtClean="0"/>
              <a:t>3/30/2024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34727F-E8D9-405D-8CA4-43A771E46DEF}" type="datetime1">
              <a:rPr lang="en-US" smtClean="0"/>
              <a:t>3/30/2024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8CBDB-2B1E-40D5-A25F-74843C2C24F6}" type="datetime1">
              <a:rPr lang="en-US" smtClean="0"/>
              <a:t>3/30/2024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001000" y="9410700"/>
            <a:ext cx="2286000" cy="593725"/>
          </a:xfrm>
        </p:spPr>
        <p:txBody>
          <a:bodyPr/>
          <a:lstStyle>
            <a:lvl1pPr algn="ctr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61B2-27BC-481A-98E0-F76C65EC3E83}" type="datetime1">
              <a:rPr lang="en-US" smtClean="0"/>
              <a:t>3/30/2024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D466E-3A1E-44CF-826F-F689C7096DBB}" type="datetime1">
              <a:rPr lang="en-US" smtClean="0"/>
              <a:t>3/30/2024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16AFA-65F9-43AD-99CD-FB0A7FBFA006}" type="datetime1">
              <a:rPr lang="en-US" smtClean="0"/>
              <a:t>3/30/2024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06966-C799-4A16-9707-536E850AFA6E}" type="datetime1">
              <a:rPr lang="en-US" smtClean="0"/>
              <a:t>3/30/2024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5B68BF-B080-4206-BC3B-686C4086DEF1}" type="datetime1">
              <a:rPr lang="en-US" smtClean="0"/>
              <a:t>3/30/2024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773400" y="9486900"/>
            <a:ext cx="2286000" cy="5937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028706" y="3314700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1006882" y="2571651"/>
            <a:ext cx="16230600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00"/>
              </a:lnSpc>
              <a:spcBef>
                <a:spcPct val="0"/>
              </a:spcBef>
            </a:pPr>
            <a:r>
              <a:rPr lang="en-US" sz="5400" dirty="0">
                <a:solidFill>
                  <a:schemeClr val="tx1">
                    <a:lumMod val="65000"/>
                    <a:lumOff val="35000"/>
                  </a:schemeClr>
                </a:solidFill>
                <a:latin typeface="Public Sans Bold"/>
              </a:rPr>
              <a:t>End Of Studies’ Project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0974" y="3637740"/>
            <a:ext cx="16408332" cy="1810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250"/>
              </a:lnSpc>
            </a:pPr>
            <a:r>
              <a:rPr lang="en-US" sz="11700" spc="83" dirty="0">
                <a:solidFill>
                  <a:srgbClr val="2B2C30"/>
                </a:solidFill>
                <a:latin typeface="Playfair Display"/>
              </a:rPr>
              <a:t>E-Learning Platform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53165" y="6438900"/>
            <a:ext cx="7862435" cy="1643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rgbClr val="2B2C30"/>
                </a:solidFill>
                <a:latin typeface="Public Sans"/>
              </a:rPr>
              <a:t>Presented by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solidFill>
                  <a:srgbClr val="2B2C30"/>
                </a:solidFill>
                <a:latin typeface="Public Sans"/>
              </a:rPr>
              <a:t>SLAOUI Mohamed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solidFill>
                  <a:srgbClr val="2B2C30"/>
                </a:solidFill>
                <a:latin typeface="Public Sans"/>
              </a:rPr>
              <a:t>BOURRAS Hamza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DF9BB1-933A-A41D-2C01-74E124D7CA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-26916"/>
            <a:ext cx="3886200" cy="2082356"/>
          </a:xfrm>
          <a:prstGeom prst="rect">
            <a:avLst/>
          </a:prstGeom>
        </p:spPr>
      </p:pic>
      <p:sp>
        <p:nvSpPr>
          <p:cNvPr id="10" name="TextBox 6">
            <a:extLst>
              <a:ext uri="{FF2B5EF4-FFF2-40B4-BE49-F238E27FC236}">
                <a16:creationId xmlns:a16="http://schemas.microsoft.com/office/drawing/2014/main" id="{40055AFD-054C-F182-6D13-537DC9921A8C}"/>
              </a:ext>
            </a:extLst>
          </p:cNvPr>
          <p:cNvSpPr txBox="1"/>
          <p:nvPr/>
        </p:nvSpPr>
        <p:spPr>
          <a:xfrm>
            <a:off x="11035165" y="6438900"/>
            <a:ext cx="7862435" cy="1112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rgbClr val="2B2C30"/>
                </a:solidFill>
                <a:latin typeface="Public Sans"/>
              </a:rPr>
              <a:t>Supervised  by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solidFill>
                  <a:srgbClr val="2B2C30"/>
                </a:solidFill>
                <a:latin typeface="Public Sans"/>
              </a:rPr>
              <a:t>BOURFIA Youssef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5BD4CDC-7562-8532-C18A-AD75FAD2A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4267C7-B01E-0FFB-7BC5-21B05029A520}"/>
              </a:ext>
            </a:extLst>
          </p:cNvPr>
          <p:cNvSpPr txBox="1"/>
          <p:nvPr/>
        </p:nvSpPr>
        <p:spPr>
          <a:xfrm>
            <a:off x="7188240" y="1586925"/>
            <a:ext cx="3733800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numCol="1" rtlCol="0">
            <a:spAutoFit/>
          </a:bodyPr>
          <a:lstStyle/>
          <a:p>
            <a:pPr algn="ctr"/>
            <a:r>
              <a:rPr lang="en-US" sz="3200" b="1" dirty="0">
                <a:latin typeface="Aptos Display" panose="020B0004020202020204" pitchFamily="34" charset="0"/>
              </a:rPr>
              <a:t>Computer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06871" y="942975"/>
            <a:ext cx="16230600" cy="609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3">
              <a:lnSpc>
                <a:spcPts val="5200"/>
              </a:lnSpc>
              <a:spcBef>
                <a:spcPct val="0"/>
              </a:spcBef>
            </a:pPr>
            <a:r>
              <a:rPr lang="en-US" sz="3714" spc="300" dirty="0">
                <a:solidFill>
                  <a:srgbClr val="2B2C30"/>
                </a:solidFill>
                <a:latin typeface="Public Sans Bold"/>
              </a:rPr>
              <a:t>Table Of Content</a:t>
            </a:r>
          </a:p>
        </p:txBody>
      </p:sp>
      <p:sp>
        <p:nvSpPr>
          <p:cNvPr id="3" name="AutoShape 3"/>
          <p:cNvSpPr/>
          <p:nvPr/>
        </p:nvSpPr>
        <p:spPr>
          <a:xfrm flipV="1">
            <a:off x="1028695" y="1760761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3048000" y="2171700"/>
            <a:ext cx="7877184" cy="650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2259" lvl="1">
              <a:lnSpc>
                <a:spcPct val="200000"/>
              </a:lnSpc>
            </a:pPr>
            <a:r>
              <a:rPr lang="en-US" sz="3200" dirty="0">
                <a:solidFill>
                  <a:srgbClr val="2B2C30"/>
                </a:solidFill>
                <a:latin typeface="Public Sans"/>
              </a:rPr>
              <a:t>Introduction</a:t>
            </a:r>
          </a:p>
          <a:p>
            <a:pPr marL="302259" lvl="1">
              <a:lnSpc>
                <a:spcPct val="200000"/>
              </a:lnSpc>
            </a:pPr>
            <a:r>
              <a:rPr lang="en-US" sz="3200" dirty="0">
                <a:solidFill>
                  <a:srgbClr val="2B2C30"/>
                </a:solidFill>
                <a:latin typeface="Public Sans"/>
              </a:rPr>
              <a:t>General Problem</a:t>
            </a:r>
          </a:p>
          <a:p>
            <a:pPr marL="302259" lvl="1">
              <a:lnSpc>
                <a:spcPct val="200000"/>
              </a:lnSpc>
            </a:pPr>
            <a:r>
              <a:rPr lang="en-US" sz="3200" dirty="0">
                <a:solidFill>
                  <a:srgbClr val="2B2C30"/>
                </a:solidFill>
                <a:latin typeface="Public Sans"/>
              </a:rPr>
              <a:t>Technology Tools</a:t>
            </a:r>
          </a:p>
          <a:p>
            <a:pPr marL="302259" lvl="1">
              <a:lnSpc>
                <a:spcPct val="200000"/>
              </a:lnSpc>
            </a:pPr>
            <a:r>
              <a:rPr lang="en-US" sz="3200" dirty="0">
                <a:solidFill>
                  <a:srgbClr val="2B2C30"/>
                </a:solidFill>
                <a:latin typeface="Public Sans"/>
              </a:rPr>
              <a:t>Project Conception</a:t>
            </a:r>
          </a:p>
          <a:p>
            <a:pPr marL="302259" lvl="1">
              <a:lnSpc>
                <a:spcPct val="200000"/>
              </a:lnSpc>
            </a:pPr>
            <a:r>
              <a:rPr lang="en-US" sz="3200" dirty="0">
                <a:solidFill>
                  <a:srgbClr val="2B2C30"/>
                </a:solidFill>
                <a:latin typeface="Public Sans"/>
              </a:rPr>
              <a:t>Project Implementation </a:t>
            </a:r>
          </a:p>
          <a:p>
            <a:pPr marL="302259" lvl="1">
              <a:lnSpc>
                <a:spcPct val="200000"/>
              </a:lnSpc>
            </a:pPr>
            <a:r>
              <a:rPr lang="en-US" sz="3200" dirty="0">
                <a:solidFill>
                  <a:srgbClr val="2B2C30"/>
                </a:solidFill>
                <a:latin typeface="Public Sans"/>
              </a:rPr>
              <a:t>Conclusion</a:t>
            </a:r>
          </a:p>
          <a:p>
            <a:pPr marL="816609" lvl="1" indent="-514350">
              <a:lnSpc>
                <a:spcPts val="5235"/>
              </a:lnSpc>
              <a:buFont typeface="+mj-lt"/>
              <a:buAutoNum type="arabicPeriod"/>
            </a:pPr>
            <a:endParaRPr lang="en-US" sz="3200" dirty="0">
              <a:solidFill>
                <a:srgbClr val="2B2C30"/>
              </a:solidFill>
              <a:latin typeface="Public Sans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FB6408-B3BF-527A-696A-66B619B6B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20BB8C-0CB8-61CA-2941-EFA530447C82}"/>
              </a:ext>
            </a:extLst>
          </p:cNvPr>
          <p:cNvCxnSpPr>
            <a:cxnSpLocks/>
          </p:cNvCxnSpPr>
          <p:nvPr/>
        </p:nvCxnSpPr>
        <p:spPr>
          <a:xfrm>
            <a:off x="2895600" y="2324100"/>
            <a:ext cx="0" cy="58674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3" name="Group 21">
            <a:extLst>
              <a:ext uri="{FF2B5EF4-FFF2-40B4-BE49-F238E27FC236}">
                <a16:creationId xmlns:a16="http://schemas.microsoft.com/office/drawing/2014/main" id="{00253379-A867-5A63-8973-92CE185C1E23}"/>
              </a:ext>
            </a:extLst>
          </p:cNvPr>
          <p:cNvGrpSpPr/>
          <p:nvPr/>
        </p:nvGrpSpPr>
        <p:grpSpPr>
          <a:xfrm>
            <a:off x="2819400" y="2628900"/>
            <a:ext cx="138677" cy="138677"/>
            <a:chOff x="0" y="0"/>
            <a:chExt cx="812800" cy="812800"/>
          </a:xfrm>
        </p:grpSpPr>
        <p:sp>
          <p:nvSpPr>
            <p:cNvPr id="14" name="Freeform 22">
              <a:extLst>
                <a:ext uri="{FF2B5EF4-FFF2-40B4-BE49-F238E27FC236}">
                  <a16:creationId xmlns:a16="http://schemas.microsoft.com/office/drawing/2014/main" id="{74FFB285-A2E6-7E7D-7F3B-0671AC9F0CF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B2C30"/>
            </a:solidFill>
          </p:spPr>
        </p:sp>
        <p:sp>
          <p:nvSpPr>
            <p:cNvPr id="15" name="TextBox 23">
              <a:extLst>
                <a:ext uri="{FF2B5EF4-FFF2-40B4-BE49-F238E27FC236}">
                  <a16:creationId xmlns:a16="http://schemas.microsoft.com/office/drawing/2014/main" id="{BEE0E770-DE3D-414C-AF90-F64B7D53ECE2}"/>
                </a:ext>
              </a:extLst>
            </p:cNvPr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6" name="Group 21">
            <a:extLst>
              <a:ext uri="{FF2B5EF4-FFF2-40B4-BE49-F238E27FC236}">
                <a16:creationId xmlns:a16="http://schemas.microsoft.com/office/drawing/2014/main" id="{DAE30F61-1DFA-7B7B-0CDD-D55975C89918}"/>
              </a:ext>
            </a:extLst>
          </p:cNvPr>
          <p:cNvGrpSpPr/>
          <p:nvPr/>
        </p:nvGrpSpPr>
        <p:grpSpPr>
          <a:xfrm>
            <a:off x="2819400" y="3633223"/>
            <a:ext cx="138677" cy="138677"/>
            <a:chOff x="0" y="0"/>
            <a:chExt cx="812800" cy="812800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4D59308F-85D5-E833-07EA-A2F39EB551E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B2C30"/>
            </a:solidFill>
          </p:spPr>
        </p:sp>
        <p:sp>
          <p:nvSpPr>
            <p:cNvPr id="18" name="TextBox 23">
              <a:extLst>
                <a:ext uri="{FF2B5EF4-FFF2-40B4-BE49-F238E27FC236}">
                  <a16:creationId xmlns:a16="http://schemas.microsoft.com/office/drawing/2014/main" id="{208C32CE-1279-D665-78E5-B610243A3A58}"/>
                </a:ext>
              </a:extLst>
            </p:cNvPr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9" name="Group 21">
            <a:extLst>
              <a:ext uri="{FF2B5EF4-FFF2-40B4-BE49-F238E27FC236}">
                <a16:creationId xmlns:a16="http://schemas.microsoft.com/office/drawing/2014/main" id="{7F1B97EE-784C-831C-9529-E705E8F91B16}"/>
              </a:ext>
            </a:extLst>
          </p:cNvPr>
          <p:cNvGrpSpPr/>
          <p:nvPr/>
        </p:nvGrpSpPr>
        <p:grpSpPr>
          <a:xfrm>
            <a:off x="2819400" y="4637546"/>
            <a:ext cx="138677" cy="138677"/>
            <a:chOff x="0" y="0"/>
            <a:chExt cx="812800" cy="812800"/>
          </a:xfrm>
        </p:grpSpPr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AFA78318-4CE6-C805-EE87-93753EF4AA0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B2C30"/>
            </a:solidFill>
          </p:spPr>
        </p:sp>
        <p:sp>
          <p:nvSpPr>
            <p:cNvPr id="21" name="TextBox 23">
              <a:extLst>
                <a:ext uri="{FF2B5EF4-FFF2-40B4-BE49-F238E27FC236}">
                  <a16:creationId xmlns:a16="http://schemas.microsoft.com/office/drawing/2014/main" id="{D7321D0E-548E-2033-8F70-ED6D8CE03DB2}"/>
                </a:ext>
              </a:extLst>
            </p:cNvPr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9E42CA-4BA2-99C5-0B65-7E6E15F7A761}"/>
              </a:ext>
            </a:extLst>
          </p:cNvPr>
          <p:cNvGrpSpPr/>
          <p:nvPr/>
        </p:nvGrpSpPr>
        <p:grpSpPr>
          <a:xfrm>
            <a:off x="2819400" y="5600700"/>
            <a:ext cx="138677" cy="138677"/>
            <a:chOff x="0" y="0"/>
            <a:chExt cx="812800" cy="8128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D1E4FB1-2D37-EDF3-2412-36EEDD36AF6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B2C30"/>
            </a:solidFill>
          </p:spPr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96C33D-CD47-5B5F-AC57-1B2BEAA36A1F}"/>
                </a:ext>
              </a:extLst>
            </p:cNvPr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47F46D-7614-05B8-DB31-A9CBD320A05E}"/>
              </a:ext>
            </a:extLst>
          </p:cNvPr>
          <p:cNvGrpSpPr/>
          <p:nvPr/>
        </p:nvGrpSpPr>
        <p:grpSpPr>
          <a:xfrm>
            <a:off x="2819400" y="6591300"/>
            <a:ext cx="138677" cy="138677"/>
            <a:chOff x="0" y="0"/>
            <a:chExt cx="812800" cy="812800"/>
          </a:xfrm>
        </p:grpSpPr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7B17580A-2159-BF22-9F77-D969A59C9F9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B2C30"/>
            </a:solidFill>
          </p:spPr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51DD320-20F1-D555-A68A-B1703AC6C971}"/>
                </a:ext>
              </a:extLst>
            </p:cNvPr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C68AAD2-176B-4E4E-0E0B-FA1B131F27C4}"/>
              </a:ext>
            </a:extLst>
          </p:cNvPr>
          <p:cNvGrpSpPr/>
          <p:nvPr/>
        </p:nvGrpSpPr>
        <p:grpSpPr>
          <a:xfrm>
            <a:off x="2819400" y="7581900"/>
            <a:ext cx="138677" cy="138677"/>
            <a:chOff x="0" y="0"/>
            <a:chExt cx="812800" cy="812800"/>
          </a:xfrm>
        </p:grpSpPr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5AA880C0-4CB3-7A9A-D219-1414437458D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B2C30"/>
            </a:solidFill>
          </p:spPr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D6E66E0-B1E6-A5DC-E5AD-9EC361CCC786}"/>
                </a:ext>
              </a:extLst>
            </p:cNvPr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14800" y="4381500"/>
            <a:ext cx="9509685" cy="1013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5"/>
              </a:lnSpc>
            </a:pPr>
            <a:r>
              <a:rPr lang="en-US" sz="8800" spc="30" dirty="0">
                <a:solidFill>
                  <a:srgbClr val="2B2C30"/>
                </a:solidFill>
                <a:latin typeface="Playfair Display"/>
              </a:rPr>
              <a:t>Introduction</a:t>
            </a:r>
            <a:endParaRPr lang="en-US" sz="6050" spc="30" dirty="0">
              <a:solidFill>
                <a:srgbClr val="2B2C30"/>
              </a:solidFill>
              <a:latin typeface="Playfair Display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C6EB7-52B9-7C50-3916-93921D532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05400" y="1714500"/>
            <a:ext cx="8077200" cy="1014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65"/>
              </a:lnSpc>
            </a:pPr>
            <a:r>
              <a:rPr lang="en-US" sz="8800" spc="30" dirty="0">
                <a:solidFill>
                  <a:srgbClr val="2B2C30"/>
                </a:solidFill>
                <a:latin typeface="Playfair Display"/>
              </a:rPr>
              <a:t>The Problem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C6EB7-52B9-7C50-3916-93921D532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0E0630F-2CD9-D685-540F-947C700C2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0" y="1181100"/>
            <a:ext cx="1714404" cy="17144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DA3971-71E4-E6F9-B3E7-0CDA33C1B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800" y="1181100"/>
            <a:ext cx="1714404" cy="171440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D847968-0141-A3F1-535C-4DC86F8D6B17}"/>
              </a:ext>
            </a:extLst>
          </p:cNvPr>
          <p:cNvSpPr txBox="1"/>
          <p:nvPr/>
        </p:nvSpPr>
        <p:spPr>
          <a:xfrm>
            <a:off x="4595918" y="4305300"/>
            <a:ext cx="961528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Public Sans" panose="020B0604020202020204" charset="0"/>
              </a:rPr>
              <a:t>Inefficient communication methods between students and professors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latin typeface="Public Sans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Public Sans" panose="020B0604020202020204" charset="0"/>
              </a:rPr>
              <a:t>Security issues and difficulties in submitting assignments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latin typeface="Public Sans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Public Sans" panose="020B0604020202020204" charset="0"/>
              </a:rPr>
              <a:t>Absence of interactive learning tools </a:t>
            </a:r>
          </a:p>
        </p:txBody>
      </p:sp>
    </p:spTree>
    <p:extLst>
      <p:ext uri="{BB962C8B-B14F-4D97-AF65-F5344CB8AC3E}">
        <p14:creationId xmlns:p14="http://schemas.microsoft.com/office/powerpoint/2010/main" val="1722086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 flipV="1">
            <a:off x="1028695" y="1599791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1516029" y="2141164"/>
            <a:ext cx="2998533" cy="2688178"/>
            <a:chOff x="0" y="0"/>
            <a:chExt cx="1379207" cy="123645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681879" y="2141164"/>
            <a:ext cx="2998533" cy="2688178"/>
            <a:chOff x="0" y="0"/>
            <a:chExt cx="1379207" cy="123645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846367" y="2141164"/>
            <a:ext cx="2998533" cy="2688178"/>
            <a:chOff x="0" y="0"/>
            <a:chExt cx="1379207" cy="123645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3963141" y="2141164"/>
            <a:ext cx="2998533" cy="2688178"/>
            <a:chOff x="0" y="0"/>
            <a:chExt cx="1379207" cy="12364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06907" y="5143500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React JS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519535" y="5143500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MySQL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63221" y="5143500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Laravel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675848" y="5143500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XAMPP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6D3A8F11-F4A2-6EB6-250B-CFD666DF9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CF0C0AC3-AA44-F5FE-A3F2-7024266FD1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3205" y="2170462"/>
            <a:ext cx="2624179" cy="262417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4FC933B1-A2F5-8075-05C1-80CE3C6A01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586" y="2267773"/>
            <a:ext cx="2401118" cy="249745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26C0898-9B11-820A-2B94-E224294783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7168" y="2368858"/>
            <a:ext cx="2183141" cy="2183141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EBDB83F-F684-7AF9-7736-0CE6CC19D6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7350" y="2367649"/>
            <a:ext cx="2295821" cy="2313898"/>
          </a:xfrm>
          <a:prstGeom prst="rect">
            <a:avLst/>
          </a:prstGeom>
        </p:spPr>
      </p:pic>
      <p:grpSp>
        <p:nvGrpSpPr>
          <p:cNvPr id="51" name="Group 14">
            <a:extLst>
              <a:ext uri="{FF2B5EF4-FFF2-40B4-BE49-F238E27FC236}">
                <a16:creationId xmlns:a16="http://schemas.microsoft.com/office/drawing/2014/main" id="{57D2C609-A4AB-BA45-8836-0F35E5721B84}"/>
              </a:ext>
            </a:extLst>
          </p:cNvPr>
          <p:cNvGrpSpPr/>
          <p:nvPr/>
        </p:nvGrpSpPr>
        <p:grpSpPr>
          <a:xfrm>
            <a:off x="1528322" y="5786382"/>
            <a:ext cx="2998533" cy="2688178"/>
            <a:chOff x="0" y="0"/>
            <a:chExt cx="1379207" cy="1236456"/>
          </a:xfrm>
        </p:grpSpPr>
        <p:sp>
          <p:nvSpPr>
            <p:cNvPr id="52" name="Freeform 15">
              <a:extLst>
                <a:ext uri="{FF2B5EF4-FFF2-40B4-BE49-F238E27FC236}">
                  <a16:creationId xmlns:a16="http://schemas.microsoft.com/office/drawing/2014/main" id="{8DB4E5CA-2E39-2C85-4212-7F1FD1DFCE33}"/>
                </a:ext>
              </a:extLst>
            </p:cNvPr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53" name="TextBox 16">
              <a:extLst>
                <a:ext uri="{FF2B5EF4-FFF2-40B4-BE49-F238E27FC236}">
                  <a16:creationId xmlns:a16="http://schemas.microsoft.com/office/drawing/2014/main" id="{4D56E5E9-3231-F6D4-E2ED-C6E521E168B1}"/>
                </a:ext>
              </a:extLst>
            </p:cNvPr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grpSp>
        <p:nvGrpSpPr>
          <p:cNvPr id="54" name="Group 17">
            <a:extLst>
              <a:ext uri="{FF2B5EF4-FFF2-40B4-BE49-F238E27FC236}">
                <a16:creationId xmlns:a16="http://schemas.microsoft.com/office/drawing/2014/main" id="{55450061-FDA9-727F-C0A6-9CA83A60CDBF}"/>
              </a:ext>
            </a:extLst>
          </p:cNvPr>
          <p:cNvGrpSpPr/>
          <p:nvPr/>
        </p:nvGrpSpPr>
        <p:grpSpPr>
          <a:xfrm>
            <a:off x="5694172" y="5786382"/>
            <a:ext cx="2998533" cy="2688178"/>
            <a:chOff x="0" y="0"/>
            <a:chExt cx="1379207" cy="1236456"/>
          </a:xfrm>
        </p:grpSpPr>
        <p:sp>
          <p:nvSpPr>
            <p:cNvPr id="55" name="Freeform 18">
              <a:extLst>
                <a:ext uri="{FF2B5EF4-FFF2-40B4-BE49-F238E27FC236}">
                  <a16:creationId xmlns:a16="http://schemas.microsoft.com/office/drawing/2014/main" id="{98C65DCE-FC2D-57B6-B752-AFE20D9C6AAA}"/>
                </a:ext>
              </a:extLst>
            </p:cNvPr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56" name="TextBox 19">
              <a:extLst>
                <a:ext uri="{FF2B5EF4-FFF2-40B4-BE49-F238E27FC236}">
                  <a16:creationId xmlns:a16="http://schemas.microsoft.com/office/drawing/2014/main" id="{9AFA800A-7AD8-6015-E864-FCD780977B92}"/>
                </a:ext>
              </a:extLst>
            </p:cNvPr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grpSp>
        <p:nvGrpSpPr>
          <p:cNvPr id="57" name="Group 20">
            <a:extLst>
              <a:ext uri="{FF2B5EF4-FFF2-40B4-BE49-F238E27FC236}">
                <a16:creationId xmlns:a16="http://schemas.microsoft.com/office/drawing/2014/main" id="{FE91F57E-55A2-7744-A933-317F3741C6DB}"/>
              </a:ext>
            </a:extLst>
          </p:cNvPr>
          <p:cNvGrpSpPr/>
          <p:nvPr/>
        </p:nvGrpSpPr>
        <p:grpSpPr>
          <a:xfrm>
            <a:off x="9858660" y="5786382"/>
            <a:ext cx="2998533" cy="2688178"/>
            <a:chOff x="0" y="0"/>
            <a:chExt cx="1379207" cy="1236456"/>
          </a:xfrm>
        </p:grpSpPr>
        <p:sp>
          <p:nvSpPr>
            <p:cNvPr id="58" name="Freeform 21">
              <a:extLst>
                <a:ext uri="{FF2B5EF4-FFF2-40B4-BE49-F238E27FC236}">
                  <a16:creationId xmlns:a16="http://schemas.microsoft.com/office/drawing/2014/main" id="{4244B049-EA77-8BC5-3963-A13D9D695CD4}"/>
                </a:ext>
              </a:extLst>
            </p:cNvPr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59" name="TextBox 22">
              <a:extLst>
                <a:ext uri="{FF2B5EF4-FFF2-40B4-BE49-F238E27FC236}">
                  <a16:creationId xmlns:a16="http://schemas.microsoft.com/office/drawing/2014/main" id="{94D64C43-15C4-2B8D-9F9F-A461D735207B}"/>
                </a:ext>
              </a:extLst>
            </p:cNvPr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grpSp>
        <p:nvGrpSpPr>
          <p:cNvPr id="60" name="Group 23">
            <a:extLst>
              <a:ext uri="{FF2B5EF4-FFF2-40B4-BE49-F238E27FC236}">
                <a16:creationId xmlns:a16="http://schemas.microsoft.com/office/drawing/2014/main" id="{3771CFF7-9AC5-828E-A616-7286C0BA0C18}"/>
              </a:ext>
            </a:extLst>
          </p:cNvPr>
          <p:cNvGrpSpPr/>
          <p:nvPr/>
        </p:nvGrpSpPr>
        <p:grpSpPr>
          <a:xfrm>
            <a:off x="13975434" y="5786382"/>
            <a:ext cx="2998533" cy="2688178"/>
            <a:chOff x="0" y="0"/>
            <a:chExt cx="1379207" cy="1236456"/>
          </a:xfrm>
        </p:grpSpPr>
        <p:sp>
          <p:nvSpPr>
            <p:cNvPr id="61" name="Freeform 24">
              <a:extLst>
                <a:ext uri="{FF2B5EF4-FFF2-40B4-BE49-F238E27FC236}">
                  <a16:creationId xmlns:a16="http://schemas.microsoft.com/office/drawing/2014/main" id="{547FCC66-6F02-603A-4F86-B914566D00F3}"/>
                </a:ext>
              </a:extLst>
            </p:cNvPr>
            <p:cNvSpPr/>
            <p:nvPr/>
          </p:nvSpPr>
          <p:spPr>
            <a:xfrm>
              <a:off x="0" y="0"/>
              <a:ext cx="1379207" cy="1236456"/>
            </a:xfrm>
            <a:custGeom>
              <a:avLst/>
              <a:gdLst/>
              <a:ahLst/>
              <a:cxnLst/>
              <a:rect l="l" t="t" r="r" b="b"/>
              <a:pathLst>
                <a:path w="1379207" h="1236456">
                  <a:moveTo>
                    <a:pt x="0" y="0"/>
                  </a:moveTo>
                  <a:lnTo>
                    <a:pt x="1379207" y="0"/>
                  </a:lnTo>
                  <a:lnTo>
                    <a:pt x="1379207" y="1236456"/>
                  </a:lnTo>
                  <a:lnTo>
                    <a:pt x="0" y="12364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2B2C30"/>
              </a:solidFill>
              <a:prstDash val="solid"/>
              <a:miter/>
            </a:ln>
          </p:spPr>
        </p:sp>
        <p:sp>
          <p:nvSpPr>
            <p:cNvPr id="62" name="TextBox 25">
              <a:extLst>
                <a:ext uri="{FF2B5EF4-FFF2-40B4-BE49-F238E27FC236}">
                  <a16:creationId xmlns:a16="http://schemas.microsoft.com/office/drawing/2014/main" id="{45034BAC-1744-00F0-EE29-9E5893747502}"/>
                </a:ext>
              </a:extLst>
            </p:cNvPr>
            <p:cNvSpPr txBox="1"/>
            <p:nvPr/>
          </p:nvSpPr>
          <p:spPr>
            <a:xfrm>
              <a:off x="0" y="-28575"/>
              <a:ext cx="1379207" cy="1265031"/>
            </a:xfrm>
            <a:prstGeom prst="rect">
              <a:avLst/>
            </a:prstGeom>
          </p:spPr>
          <p:txBody>
            <a:bodyPr lIns="68580" tIns="68580" rIns="68580" bIns="68580" rtlCol="0" anchor="ctr"/>
            <a:lstStyle/>
            <a:p>
              <a:pPr algn="ctr">
                <a:lnSpc>
                  <a:spcPts val="1889"/>
                </a:lnSpc>
              </a:pPr>
              <a:endParaRPr/>
            </a:p>
          </p:txBody>
        </p:sp>
      </p:grpSp>
      <p:sp>
        <p:nvSpPr>
          <p:cNvPr id="63" name="TextBox 28">
            <a:extLst>
              <a:ext uri="{FF2B5EF4-FFF2-40B4-BE49-F238E27FC236}">
                <a16:creationId xmlns:a16="http://schemas.microsoft.com/office/drawing/2014/main" id="{B1D3695A-87E2-2336-848B-1882D29AAD0A}"/>
              </a:ext>
            </a:extLst>
          </p:cNvPr>
          <p:cNvSpPr txBox="1"/>
          <p:nvPr/>
        </p:nvSpPr>
        <p:spPr>
          <a:xfrm>
            <a:off x="1219200" y="8788718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Redux</a:t>
            </a:r>
          </a:p>
        </p:txBody>
      </p:sp>
      <p:sp>
        <p:nvSpPr>
          <p:cNvPr id="64" name="TextBox 32">
            <a:extLst>
              <a:ext uri="{FF2B5EF4-FFF2-40B4-BE49-F238E27FC236}">
                <a16:creationId xmlns:a16="http://schemas.microsoft.com/office/drawing/2014/main" id="{FF192EAA-5E4A-E0C5-26F7-DDCA58DEF1FC}"/>
              </a:ext>
            </a:extLst>
          </p:cNvPr>
          <p:cNvSpPr txBox="1"/>
          <p:nvPr/>
        </p:nvSpPr>
        <p:spPr>
          <a:xfrm>
            <a:off x="9531828" y="8788718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Tailwind CSS</a:t>
            </a:r>
          </a:p>
        </p:txBody>
      </p:sp>
      <p:sp>
        <p:nvSpPr>
          <p:cNvPr id="65" name="TextBox 36">
            <a:extLst>
              <a:ext uri="{FF2B5EF4-FFF2-40B4-BE49-F238E27FC236}">
                <a16:creationId xmlns:a16="http://schemas.microsoft.com/office/drawing/2014/main" id="{79498064-F79F-35E7-E3E9-567888AC595C}"/>
              </a:ext>
            </a:extLst>
          </p:cNvPr>
          <p:cNvSpPr txBox="1"/>
          <p:nvPr/>
        </p:nvSpPr>
        <p:spPr>
          <a:xfrm>
            <a:off x="5375514" y="8788718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VS Code</a:t>
            </a:r>
          </a:p>
        </p:txBody>
      </p:sp>
      <p:sp>
        <p:nvSpPr>
          <p:cNvPr id="66" name="TextBox 40">
            <a:extLst>
              <a:ext uri="{FF2B5EF4-FFF2-40B4-BE49-F238E27FC236}">
                <a16:creationId xmlns:a16="http://schemas.microsoft.com/office/drawing/2014/main" id="{FFEFD7C2-24E0-BD9D-F965-853B4B35B3CE}"/>
              </a:ext>
            </a:extLst>
          </p:cNvPr>
          <p:cNvSpPr txBox="1"/>
          <p:nvPr/>
        </p:nvSpPr>
        <p:spPr>
          <a:xfrm>
            <a:off x="13688141" y="8788718"/>
            <a:ext cx="3773952" cy="47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2B2C30"/>
                </a:solidFill>
                <a:latin typeface="Public Sans Bold"/>
              </a:rPr>
              <a:t>Postman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BEC71312-BEB6-C25C-F58C-702FB2DA368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2941" y="5936412"/>
            <a:ext cx="2431892" cy="23881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761E97BB-03CE-0BC7-25F9-B0692281FE7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737" y="6022503"/>
            <a:ext cx="2383114" cy="2153809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9B833D3-C1BA-3FA0-70A3-1F00A51C4A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089" y="6203642"/>
            <a:ext cx="2857500" cy="17145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5210A38-FDAB-567F-CB28-6237F5626E3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8943" y="5974714"/>
            <a:ext cx="2311514" cy="2311514"/>
          </a:xfrm>
          <a:prstGeom prst="rect">
            <a:avLst/>
          </a:prstGeom>
        </p:spPr>
      </p:pic>
      <p:sp>
        <p:nvSpPr>
          <p:cNvPr id="75" name="TextBox 2">
            <a:extLst>
              <a:ext uri="{FF2B5EF4-FFF2-40B4-BE49-F238E27FC236}">
                <a16:creationId xmlns:a16="http://schemas.microsoft.com/office/drawing/2014/main" id="{9D4C52FC-D799-D53E-4A3F-CD55ADF4EDC6}"/>
              </a:ext>
            </a:extLst>
          </p:cNvPr>
          <p:cNvSpPr txBox="1"/>
          <p:nvPr/>
        </p:nvSpPr>
        <p:spPr>
          <a:xfrm>
            <a:off x="5105400" y="647700"/>
            <a:ext cx="8077200" cy="1014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65"/>
              </a:lnSpc>
            </a:pPr>
            <a:r>
              <a:rPr lang="en-US" sz="8800" spc="30" dirty="0">
                <a:solidFill>
                  <a:srgbClr val="2B2C30"/>
                </a:solidFill>
                <a:latin typeface="Playfair Display"/>
              </a:rPr>
              <a:t>Used Tools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14800" y="4381500"/>
            <a:ext cx="9509685" cy="2027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5"/>
              </a:lnSpc>
            </a:pPr>
            <a:r>
              <a:rPr lang="en-US" sz="8800" spc="30" dirty="0">
                <a:solidFill>
                  <a:srgbClr val="2B2C30"/>
                </a:solidFill>
                <a:latin typeface="Playfair Display"/>
              </a:rPr>
              <a:t>Project Conception</a:t>
            </a:r>
            <a:endParaRPr lang="en-US" sz="6050" spc="30" dirty="0">
              <a:solidFill>
                <a:srgbClr val="2B2C30"/>
              </a:solidFill>
              <a:latin typeface="Playfair Display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C6EB7-52B9-7C50-3916-93921D532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976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000980" y="346832"/>
            <a:ext cx="16230600" cy="609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200"/>
              </a:lnSpc>
              <a:spcBef>
                <a:spcPct val="0"/>
              </a:spcBef>
            </a:pPr>
            <a:r>
              <a:rPr lang="en-US" sz="3714" dirty="0">
                <a:solidFill>
                  <a:srgbClr val="2B2C30"/>
                </a:solidFill>
                <a:latin typeface="Public Sans Bold"/>
              </a:rPr>
              <a:t>Class Diagram</a:t>
            </a:r>
          </a:p>
        </p:txBody>
      </p:sp>
      <p:sp>
        <p:nvSpPr>
          <p:cNvPr id="6" name="AutoShape 6"/>
          <p:cNvSpPr/>
          <p:nvPr/>
        </p:nvSpPr>
        <p:spPr>
          <a:xfrm flipV="1">
            <a:off x="1028695" y="1104900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B914151-FC7B-8828-C804-02DFD24B5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A4C0F9-6A51-0EFD-F3DF-696351D71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561" y="1215865"/>
            <a:ext cx="13417840" cy="8227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14800" y="4381500"/>
            <a:ext cx="9509685" cy="2027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5"/>
              </a:lnSpc>
            </a:pPr>
            <a:r>
              <a:rPr lang="en-US" sz="8800" spc="30" dirty="0">
                <a:solidFill>
                  <a:srgbClr val="2B2C30"/>
                </a:solidFill>
                <a:latin typeface="Playfair Display"/>
              </a:rPr>
              <a:t>Project Implementation</a:t>
            </a:r>
            <a:endParaRPr lang="en-US" sz="6050" spc="30" dirty="0">
              <a:solidFill>
                <a:srgbClr val="2B2C30"/>
              </a:solidFill>
              <a:latin typeface="Playfair Display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C6EB7-52B9-7C50-3916-93921D532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54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14800" y="4381500"/>
            <a:ext cx="9509685" cy="1014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5"/>
              </a:lnSpc>
            </a:pPr>
            <a:r>
              <a:rPr lang="en-US" sz="8800" spc="30" dirty="0">
                <a:solidFill>
                  <a:srgbClr val="2B2C30"/>
                </a:solidFill>
                <a:latin typeface="Playfair Display"/>
              </a:rPr>
              <a:t>Conclusion</a:t>
            </a:r>
            <a:endParaRPr lang="en-US" sz="6050" spc="30" dirty="0">
              <a:solidFill>
                <a:srgbClr val="2B2C30"/>
              </a:solidFill>
              <a:latin typeface="Playfair Display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C6EB7-52B9-7C50-3916-93921D532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293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028706" y="5372100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850974" y="3370539"/>
            <a:ext cx="16408332" cy="1962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250"/>
              </a:lnSpc>
            </a:pPr>
            <a:r>
              <a:rPr lang="en-US" sz="16758" spc="83" dirty="0">
                <a:solidFill>
                  <a:srgbClr val="2B2C30"/>
                </a:solidFill>
                <a:latin typeface="Playfair Display"/>
              </a:rPr>
              <a:t>Thank you!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632B71-D6CF-29CB-3E63-CE8D212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87</Words>
  <Application>Microsoft Office PowerPoint</Application>
  <PresentationFormat>Custom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 Display</vt:lpstr>
      <vt:lpstr>Calibri</vt:lpstr>
      <vt:lpstr>Public Sans Bold</vt:lpstr>
      <vt:lpstr>Public Sans</vt:lpstr>
      <vt:lpstr>Playfair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Neutral Minimalist New Business Pitch Deck Presentation</dc:title>
  <cp:lastModifiedBy>Mohamed Slaoui</cp:lastModifiedBy>
  <cp:revision>43</cp:revision>
  <dcterms:created xsi:type="dcterms:W3CDTF">2006-08-16T00:00:00Z</dcterms:created>
  <dcterms:modified xsi:type="dcterms:W3CDTF">2024-03-31T00:06:26Z</dcterms:modified>
  <dc:identifier>DAGA9q9uU5w</dc:identifier>
</cp:coreProperties>
</file>